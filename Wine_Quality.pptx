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8" r:id="rId4"/>
    <p:sldId id="259" r:id="rId5"/>
    <p:sldId id="260" r:id="rId6"/>
    <p:sldId id="262" r:id="rId8"/>
    <p:sldId id="263" r:id="rId9"/>
    <p:sldId id="264" r:id="rId10"/>
    <p:sldId id="265" r:id="rId11"/>
    <p:sldId id="266" r:id="rId12"/>
    <p:sldId id="267" r:id="rId13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8" r:id="rId22"/>
    <p:sldId id="276" r:id="rId24"/>
    <p:sldId id="277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3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22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5677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EC140F-14A3-3DDF-4FB4-D68CFD0200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237027"/>
            <a:ext cx="12091916" cy="723331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370" y="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34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Phân </a:t>
            </a: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&amp; Dự đoán Chất lượng Rượu vang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59" y="900751"/>
            <a:ext cx="4704383" cy="22382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GVHD:  Ths Cáp Phạm Đình Thăng</a:t>
            </a: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Môn : CS 114- Học Máy</a:t>
            </a: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Lớp LT.K2025.TTNT</a:t>
            </a: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Nhóm 13</a:t>
            </a: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Bùi Tấn Thiện Tâm        25410127</a:t>
            </a:r>
          </a:p>
          <a:p>
            <a:r>
              <a:rPr lang="en-US"/>
              <a:t>Lê Ngọc Thái                  25410130</a:t>
            </a:r>
          </a:p>
          <a:p>
            <a:r>
              <a:rPr lang="en-US"/>
              <a:t>Kiêm Hoàng Tuấn         25410153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5361C3-B837-8214-459D-F1BED6D50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8931" y="1133933"/>
            <a:ext cx="4961905" cy="36666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đồ án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EDA: thống kê mô tả, phân bố, tương quan, kiểm tra thiếu dữ liệu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Tiền xử lý: outlier (tuỳ chọn), chuẩn hoá, mã hoá, chia train/test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Huấn luyện 4 mô hình: Logistic Regression, Decision Tree, LightGBM, XGBoost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Đánh giá: Accuracy, Precision/Recall/F1, Confusion Matrix, ROC-AUC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Giải thích mô hình: feature importance (LGBM/XGB)</a:t>
            </a:r>
            <a:endParaRPr lang="en-US" sz="2200" dirty="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" y="3429000"/>
            <a:ext cx="5394960" cy="2697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C3C3C"/>
                </a:solidFill>
              </a:rPr>
              <a:t>Pipeline Overview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429000"/>
            <a:ext cx="539496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430000" cy="5532120"/>
          </a:xfrm>
          <a:prstGeom prst="rect">
            <a:avLst/>
          </a:prstGeom>
          <a:noFill/>
          <a:ln/>
        </p:spPr>
        <p:txBody>
          <a:bodyPr wrap="square" numCol="3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Wine trắng: 4,898 mẫu | Wine đỏ: </a:t>
            </a:r>
            <a:r>
              <a:rPr lang="en-US" sz="22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1,599 mẫu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11 đặc trưng hoá học (acidity, sugar, SO2, density, pH, sulphates, alcohol</a:t>
            </a:r>
            <a:r>
              <a:rPr lang="en-US" sz="22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…)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Nhãn gốc: quality (0–10, chủ yếu </a:t>
            </a:r>
            <a:r>
              <a:rPr lang="en-US" sz="22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3–8)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Bài toán chính: phân loại nhị phân chất lượng cao/thấp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703320" y="6629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6400800" y="814771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C3C3C"/>
                </a:solidFill>
              </a:rPr>
              <a:t>Quality Distribution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394960" cy="2606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46520" y="379476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C3C3C"/>
                </a:solidFill>
              </a:rPr>
              <a:t>Binary Label Balance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069080"/>
            <a:ext cx="539496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 đổi nhãn (Target)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972800" cy="5120640"/>
          </a:xfrm>
          <a:prstGeom prst="rect">
            <a:avLst/>
          </a:prstGeom>
          <a:noFill/>
          <a:ln/>
        </p:spPr>
        <p:txBody>
          <a:bodyPr wrap="square" numCol="3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 quality: quality ≤ 5  → label </a:t>
            </a:r>
            <a:r>
              <a:rPr lang="en-US" sz="22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quality: quality ≥ 6 → label </a:t>
            </a:r>
            <a:r>
              <a:rPr lang="en-US" sz="22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Ưu điểm: đánh giá ROC-AUC, phù hợp “đạt chuẩn/không </a:t>
            </a:r>
            <a:r>
              <a:rPr lang="en-US" sz="22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đạt”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Lưu ý: kiểm tra mất cân bằng lớp sau khi nhị phân hoá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043832" y="65836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6446520" y="96012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C3C3C"/>
                </a:solidFill>
              </a:rPr>
              <a:t>Label after binarization (≤5 vs ≥6)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234440"/>
            <a:ext cx="53949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kê mô tả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82137" y="914400"/>
            <a:ext cx="11444103" cy="5349240"/>
          </a:xfrm>
          <a:prstGeom prst="rect">
            <a:avLst/>
          </a:prstGeom>
          <a:noFill/>
          <a:ln/>
        </p:spPr>
        <p:txBody>
          <a:bodyPr wrap="square" numCol="2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 sát min/max/mean/std theo từng feature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Nhiều feature có thang đo khác nhau → cần chuẩn hoá cho LogReg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Ghi nhận các biến có phân phối lệch (skew) để xem xét outliers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65640" y="2788920"/>
            <a:ext cx="5086521" cy="2743200"/>
          </a:xfrm>
          <a:prstGeom prst="rect">
            <a:avLst/>
          </a:prstGeom>
          <a:solidFill>
            <a:srgbClr val="EFEFE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" name="Picture 6" descr="EDA_describe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903" y="822960"/>
            <a:ext cx="585216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Kiểm tra: isna().sum() theo từng cột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Kết luận: (thường) dataset không có missing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Nếu có missing: dùng SimpleImputer (median/mean) trong pipeline để tránh leakage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4827213" cy="2560320"/>
          </a:xfrm>
          <a:prstGeom prst="rect">
            <a:avLst/>
          </a:prstGeom>
          <a:solidFill>
            <a:srgbClr val="EFEFE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901291" y="6446520"/>
            <a:ext cx="54277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7" name="Picture 6" descr="EDA_df_info_miss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463040"/>
            <a:ext cx="58521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</a:t>
            </a:r>
            <a:r>
              <a:rPr lang="en-US" sz="34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 Quality </a:t>
            </a: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Mất cân bằng lớp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Quality tập trung quanh 5–6 (dữ liệu không đều trên 0–10)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Sau nhị phân hoá: kiểm tra tỉ lệ lớp 0/1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Nếu lệch lớp: ưu tiên F1/AUC; cân nhắc class_weight/scale_pos_weight (optional)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54406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7" name="Picture 6" descr="EDA_quality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2238574"/>
            <a:ext cx="11155680" cy="1761925"/>
          </a:xfrm>
          <a:prstGeom prst="rect">
            <a:avLst/>
          </a:prstGeom>
        </p:spPr>
      </p:pic>
      <p:pic>
        <p:nvPicPr>
          <p:cNvPr id="8" name="Picture 7" descr="EDA_binary_label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14799"/>
            <a:ext cx="108204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bố đặc trưng (Feature Distributions)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Một số biến có skew: residual sugar, sulfur dioxide,…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 sát xu hướng: alcohol thường cao hơn ở nhóm chất lượng cao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volatile acidity thường có xu hướng ngược với chất lượng (giả thuyết từ EDA)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10881360" cy="2560320"/>
          </a:xfrm>
          <a:prstGeom prst="rect">
            <a:avLst/>
          </a:prstGeom>
          <a:solidFill>
            <a:srgbClr val="EFEFE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54406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histogram 4–6 feature tiêu biểu</a:t>
            </a:r>
            <a:endParaRPr lang="en-US" sz="1400" dirty="0"/>
          </a:p>
        </p:txBody>
      </p:sp>
      <p:pic>
        <p:nvPicPr>
          <p:cNvPr id="7" name="Picture 6" descr="EDA_11_feature_histogra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43000"/>
            <a:ext cx="1115568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Tương quan (Correlation)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Heatmap Pearson correlation để phát hiện đa cộng tuyến và quan hệ tuyến tính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 SO2 ↔ total SO2 thường tương quan dương mạnh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density có thể liên quan đến alcohol và residual sugar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Tương quan chỉ là tuyến tính → mô hình boosting vẫn cần để học phi tuyến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10881360" cy="2560320"/>
          </a:xfrm>
          <a:prstGeom prst="rect">
            <a:avLst/>
          </a:prstGeom>
          <a:solidFill>
            <a:srgbClr val="EFEFE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54406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tương quan</a:t>
            </a:r>
            <a:endParaRPr lang="en-US" sz="1400" dirty="0"/>
          </a:p>
        </p:txBody>
      </p:sp>
      <p:pic>
        <p:nvPicPr>
          <p:cNvPr id="7" name="Picture 6" descr="EDA_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43000"/>
            <a:ext cx="1115568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&amp; Quyết định xử lý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Boxplot cho thấy một số giá trị cực đoan ở sugar / SO2 / chlorides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Hai chiến lược: (1) giữ nguyên, (2) IQR clipping (winsorize nhẹ)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Thực nghiệm: chạy 2 nhánh và chọn phương án ổn định hơn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10881360" cy="2560320"/>
          </a:xfrm>
          <a:prstGeom prst="rect">
            <a:avLst/>
          </a:prstGeom>
          <a:solidFill>
            <a:srgbClr val="EFEFE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54406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 (trước/sau nếu có)</a:t>
            </a:r>
            <a:endParaRPr lang="en-US" sz="1400" dirty="0"/>
          </a:p>
        </p:txBody>
      </p:sp>
      <p:pic>
        <p:nvPicPr>
          <p:cNvPr id="7" name="Picture 6" descr="EDA_boxplot_before_outlier_hand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43000"/>
            <a:ext cx="11155680" cy="2697480"/>
          </a:xfrm>
          <a:prstGeom prst="rect">
            <a:avLst/>
          </a:prstGeom>
        </p:spPr>
      </p:pic>
      <p:pic>
        <p:nvPicPr>
          <p:cNvPr id="8" name="Picture 7" descr="EDA_boxplot_after_IQR_clipp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977639"/>
            <a:ext cx="1115568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số đánh giá (Metrics)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972800" cy="5120640"/>
          </a:xfrm>
          <a:prstGeom prst="rect">
            <a:avLst/>
          </a:prstGeom>
          <a:noFill/>
          <a:ln/>
        </p:spPr>
        <p:txBody>
          <a:bodyPr wrap="square" numCol="3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Accuracy: tỉ lệ đúng tổng thể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Precision/Recall/F1: quan trọng khi lệch lớp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Confusion Matrix: TP/FP/TN/FN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ROC curve &amp; AUC: đánh giá khả năng phân biệt theo nhiều ngưỡng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Tiêu chí chọn best model: ưu tiên AUC hoặc F1 (tuỳ mục tiêu)</a:t>
            </a:r>
            <a:endParaRPr lang="en-US" sz="2200" dirty="0"/>
          </a:p>
        </p:txBody>
      </p:sp>
      <p:sp>
        <p:nvSpPr>
          <p:cNvPr id="5" name="TextBox 4"/>
          <p:cNvSpPr txBox="1"/>
          <p:nvPr/>
        </p:nvSpPr>
        <p:spPr>
          <a:xfrm>
            <a:off x="6446520" y="96012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C3C3C"/>
                </a:solidFill>
              </a:rPr>
              <a:t>Metrics Summary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22960"/>
            <a:ext cx="53949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</a:t>
            </a: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(Baseline)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• Kết quả theo test_size 0.1 / 0.2 / 0.3: xem bảng **Metrics Summary** trong notebook (tự sinh khi chạy)</a:t>
            </a:r>
          </a:p>
          <a:p>
            <a:r>
              <a:t>• Ưu điểm: đơn giản, ổn định, dễ triển khai</a:t>
            </a:r>
          </a:p>
          <a:p>
            <a:r>
              <a:t>• Hạn chế: khó học tương tác và phi tuyến giữa các chỉ số hoá học</a:t>
            </a:r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10881360" cy="2560320"/>
          </a:xfrm>
          <a:prstGeom prst="rect">
            <a:avLst/>
          </a:prstGeom>
          <a:solidFill>
            <a:srgbClr val="EFEFE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54406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+ Confusion Matrix (LogReg, test_size=0.2)</a:t>
            </a:r>
            <a:endParaRPr lang="en-US" sz="1400" dirty="0"/>
          </a:p>
        </p:txBody>
      </p:sp>
      <p:pic>
        <p:nvPicPr>
          <p:cNvPr id="7" name="Picture 6" descr="CM_LogReg_ts0.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5486400" cy="5440680"/>
          </a:xfrm>
          <a:prstGeom prst="rect">
            <a:avLst/>
          </a:prstGeom>
        </p:spPr>
      </p:pic>
      <p:pic>
        <p:nvPicPr>
          <p:cNvPr id="8" name="Picture 7" descr="ROC_LogReg_ts0.2_AUC0.809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34440"/>
            <a:ext cx="5486400" cy="5440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9601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/>
              <a:t>Confusion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601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/>
              <a:t>ROC Curve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</a:t>
            </a: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• Kết quả theo test_size 0.1 / 0.2 / 0.3: xem bảng **Metrics Summary** trong notebook (tự sinh khi chạy)</a:t>
            </a:r>
          </a:p>
          <a:p>
            <a:r>
              <a:t>• Dễ overfit nếu max_depth lớn → cần giới hạn độ sâu/min_samples_leaf</a:t>
            </a:r>
          </a:p>
          <a:p>
            <a:r>
              <a:t>• Giải thích tốt hơn LogReg nhưng độ ổn định có thể kém hơn boosting</a:t>
            </a:r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10881360" cy="2560320"/>
          </a:xfrm>
          <a:prstGeom prst="rect">
            <a:avLst/>
          </a:prstGeom>
          <a:solidFill>
            <a:srgbClr val="EFEFE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54406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+ Confusion Matrix (Decision Tree, test_size=0.2)</a:t>
            </a:r>
            <a:endParaRPr lang="en-US" sz="1400" dirty="0"/>
          </a:p>
        </p:txBody>
      </p:sp>
      <p:pic>
        <p:nvPicPr>
          <p:cNvPr id="7" name="Picture 6" descr="CM_DecisionTree_ts0.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5486400" cy="5440680"/>
          </a:xfrm>
          <a:prstGeom prst="rect">
            <a:avLst/>
          </a:prstGeom>
        </p:spPr>
      </p:pic>
      <p:pic>
        <p:nvPicPr>
          <p:cNvPr id="8" name="Picture 7" descr="ROC_DecisionTree_ts0.2_AUC0.753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34440"/>
            <a:ext cx="5486400" cy="5440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9601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/>
              <a:t>Confusion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601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/>
              <a:t>ROC Curve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• Kết quả theo test_size 0.1 / 0.2 / 0.3: xem bảng **Metrics Summary** trong notebook (tự sinh khi chạy)</a:t>
            </a:r>
          </a:p>
          <a:p>
            <a:r>
              <a:t>• Boosting học tương tác feature tốt → thường tăng F1/AUC</a:t>
            </a:r>
          </a:p>
          <a:p>
            <a:r>
              <a:t>• Nếu overfit: giảm num_leaves/max_depth hoặc tăng regularization</a:t>
            </a:r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10881360" cy="2560320"/>
          </a:xfrm>
          <a:prstGeom prst="rect">
            <a:avLst/>
          </a:prstGeom>
          <a:solidFill>
            <a:srgbClr val="EFEFE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54406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+ Confusion Matrix (LGBM, test_size=0.2)</a:t>
            </a:r>
            <a:endParaRPr lang="en-US" sz="1400" dirty="0"/>
          </a:p>
        </p:txBody>
      </p:sp>
      <p:pic>
        <p:nvPicPr>
          <p:cNvPr id="7" name="Picture 6" descr="CM_LGBM_ts0.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5486400" cy="5440680"/>
          </a:xfrm>
          <a:prstGeom prst="rect">
            <a:avLst/>
          </a:prstGeom>
        </p:spPr>
      </p:pic>
      <p:pic>
        <p:nvPicPr>
          <p:cNvPr id="8" name="Picture 7" descr="ROC_LGBM_ts0.2_AUC0.89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34440"/>
            <a:ext cx="5486400" cy="5440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9601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/>
              <a:t>Confusion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601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/>
              <a:t>ROC Curve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• Kết quả theo test_size 0.1 / 0.2 / 0.3: xem bảng **Metrics Summary** trong notebook (tự sinh khi chạy)</a:t>
            </a:r>
          </a:p>
          <a:p>
            <a:r>
              <a:t>• Thường cạnh tranh hoặc nhỉnh hơn LGBM tuỳ tuning</a:t>
            </a:r>
          </a:p>
          <a:p>
            <a:r>
              <a:t>• Trade-off Precision vs Recall có thể tối ưu bằng threshold</a:t>
            </a:r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10881360" cy="2560320"/>
          </a:xfrm>
          <a:prstGeom prst="rect">
            <a:avLst/>
          </a:prstGeom>
          <a:solidFill>
            <a:srgbClr val="EFEFE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54406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+ Confusion Matrix (XGB, test_size=0.2)</a:t>
            </a:r>
            <a:endParaRPr lang="en-US" sz="1400" dirty="0"/>
          </a:p>
        </p:txBody>
      </p:sp>
      <p:pic>
        <p:nvPicPr>
          <p:cNvPr id="7" name="Picture 6" descr="CM_XGBoost_ts0.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5486400" cy="5440680"/>
          </a:xfrm>
          <a:prstGeom prst="rect">
            <a:avLst/>
          </a:prstGeom>
        </p:spPr>
      </p:pic>
      <p:pic>
        <p:nvPicPr>
          <p:cNvPr id="8" name="Picture 7" descr="ROC_XGBoost_ts0.2_AUC0.88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34440"/>
            <a:ext cx="5486400" cy="5440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9601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/>
              <a:t>Confusion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601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/>
              <a:t>ROC Curve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</a:t>
            </a:r>
            <a:r>
              <a:rPr lang="en-US" sz="34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• Tổng hợp metrics (Acc/Prec/Rec/F1/AUC) theo từng test_size</a:t>
            </a:r>
          </a:p>
          <a:p>
            <a:r>
              <a:t>• Chọn best model theo: (1) AUC cao nhất hoặc (2) F1 cao nhất</a:t>
            </a:r>
          </a:p>
          <a:p>
            <a:r>
              <a:t>• Phân tích sai lầm: FP vs FN (tuỳ mục tiêu ứng dụng)</a:t>
            </a:r>
          </a:p>
          <a:p>
            <a:r>
              <a:t>• Kết luận mô hình tốt nhất: chọn theo **AUC/F1** trong bảng tổng hợp (thường nhóm boosting: LGBM/XGB)</a:t>
            </a:r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10881360" cy="2560320"/>
          </a:xfrm>
          <a:prstGeom prst="rect">
            <a:avLst/>
          </a:prstGeom>
          <a:solidFill>
            <a:srgbClr val="EFEFE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54406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tổng hợp + ROC best model</a:t>
            </a:r>
            <a:endParaRPr lang="en-US" sz="1400" dirty="0"/>
          </a:p>
        </p:txBody>
      </p:sp>
      <p:pic>
        <p:nvPicPr>
          <p:cNvPr id="7" name="Picture 6" descr="Results_metrics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43000"/>
            <a:ext cx="1115568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features (LGBM/XGB): alcohol, volatile acidity, sulphates, density, residual sugar,… (điền theo kết quả)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Diễn giải: boosting bắt tương tác phi tuyến giữa các chỉ số hoá học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Kết luận: mô hình boosting thường tốt nhất cho tabular data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Hướng phát triển: regression, tuning (Grid/Random Search), SHAP, cross-validation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10881360" cy="2560320"/>
          </a:xfrm>
          <a:prstGeom prst="rect">
            <a:avLst/>
          </a:prstGeom>
          <a:solidFill>
            <a:srgbClr val="EFEFE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54406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7" name="Picture 6" descr="FI_LGBM_top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5486400" cy="5440680"/>
          </a:xfrm>
          <a:prstGeom prst="rect">
            <a:avLst/>
          </a:prstGeom>
        </p:spPr>
      </p:pic>
      <p:pic>
        <p:nvPicPr>
          <p:cNvPr id="8" name="Picture 7" descr="FI_XGBoost_top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34440"/>
            <a:ext cx="5486400" cy="5440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9601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/>
              <a:t>LightGBM — Feature Importance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601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/>
              <a:t>XGBoost — Feature Importance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Thực nghiệm mở rộng (Optional)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1) So sánh Wine đỏ vs Wine trắng: chạy pipeline phân loại riêng từng loại, so sánh AUC/F1 và feature importance.</a:t>
            </a:r>
          </a:p>
          <a:p>
            <a:pPr>
              <a:defRPr sz="2000"/>
            </a:pPr>
            <a:r>
              <a:t>2) Regression: dự đoán quality (0–10), đánh giá MAE/RMSE/R².</a:t>
            </a:r>
          </a:p>
          <a:p>
            <a:pPr>
              <a:defRPr sz="2000"/>
            </a:pPr>
            <a:r>
              <a:t>3) Tuning: GridSearchCV (grid nhỏ) cho LGBM/XGBoost để tối ưu AUC/F1; khuyến nghị thêm Stratified K‑Fold CV.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43DDEE-D3E4-E83A-556C-6FD5E1540923}"/>
              </a:ext>
            </a:extLst>
          </p:cNvPr>
          <p:cNvSpPr txBox="1"/>
          <p:nvPr/>
        </p:nvSpPr>
        <p:spPr>
          <a:xfrm>
            <a:off x="600500" y="0"/>
            <a:ext cx="11536907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400" b="1" kern="0">
                <a:solidFill>
                  <a:srgbClr val="365F9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KẾT LUẬN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CDB76CE-D43B-3DA5-B624-F84495844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739" y="1555679"/>
            <a:ext cx="9352753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t>Dữ liệu: 6497 mẫu, không có missing values; có skew/outliers ở SO₂, residual sugar…</a:t>
            </a:r>
          </a:p>
          <a:p>
            <a:endParaRPr/>
          </a:p>
          <a:p>
            <a:r>
              <a:t>Kết quả: nhóm boosting LGBM/XGBoost vượt trội so với LogReg/DecisionTree</a:t>
            </a:r>
          </a:p>
          <a:p>
            <a:endParaRPr/>
          </a:p>
          <a:p>
            <a:r>
              <a:t>Best model (test_size=0.2): chọn theo kết quả chạy notebook (AUC/F1 cao và ổn định qua nhiều test_size)</a:t>
            </a:r>
          </a:p>
          <a:p>
            <a:endParaRPr/>
          </a:p>
          <a:p>
            <a:r>
              <a:t>Feature quan trọng: alcohol, density, total/free SO₂, residual sugar…</a:t>
            </a:r>
          </a:p>
          <a:p>
            <a:endParaRPr/>
          </a:p>
          <a:p>
            <a:r>
              <a:t>Kết luận: boosting phù hợp dữ liệu phi tuyến &amp; tương tác đặc trưng</a:t>
            </a:r>
          </a:p>
          <a:p>
            <a:endParaRPr/>
          </a:p>
          <a:p>
            <a:r>
              <a:t>Bài toán: phân loại nhị phân Low (≤5) vs High (≥6) từ 11 đặc trưng hóa học (+ wine_type)</a:t>
            </a:r>
          </a:p>
        </p:txBody>
      </p:sp>
    </p:spTree>
    <p:extLst>
      <p:ext uri="{BB962C8B-B14F-4D97-AF65-F5344CB8AC3E}">
        <p14:creationId xmlns:p14="http://schemas.microsoft.com/office/powerpoint/2010/main" val="16185543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67ED85-1E06-43CC-7429-B78AF3C95305}"/>
              </a:ext>
            </a:extLst>
          </p:cNvPr>
          <p:cNvSpPr txBox="1"/>
          <p:nvPr/>
        </p:nvSpPr>
        <p:spPr>
          <a:xfrm>
            <a:off x="973538" y="434073"/>
            <a:ext cx="10563367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000" b="1">
                <a:solidFill>
                  <a:srgbClr val="4F81BD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Hướng phát triển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B2996C4-6116-52CE-C391-F2F2D718F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218" y="1078008"/>
            <a:ext cx="7074437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GridSearch/RandomizedSearch cho LGBM/XGB để tối ưu AUC/F1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Tách riêng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 vs white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để so sánh đặc trưng quan trọng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Làm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regression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dự đoán quality điểm (MAE/RMSE)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Stratified K-Fold CV để đánh giá ổn định hơn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Tối ưu threshold &amp; xử lý imbalance (class_weight/PR curve)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Giải thích sâu bằng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SHAP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(global + per-sample)</a:t>
            </a:r>
          </a:p>
        </p:txBody>
      </p:sp>
    </p:spTree>
    <p:extLst>
      <p:ext uri="{BB962C8B-B14F-4D97-AF65-F5344CB8AC3E}">
        <p14:creationId xmlns:p14="http://schemas.microsoft.com/office/powerpoint/2010/main" val="17119900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Ghi chú chạy lại &amp; điền số liệu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Chạy notebook để tự sinh bảng Metrics Summary (test_size 0.1/0.2/0.3) và ROC/Confusion Matrix.</a:t>
            </a:r>
          </a:p>
          <a:p>
            <a:pPr>
              <a:defRPr sz="2000"/>
            </a:pPr>
            <a:r>
              <a:t>Sau khi chạy, copy các con số Acc/F1/AUC vào các slide mô hình (nếu cần trình bày số cụ thể).</a:t>
            </a:r>
          </a:p>
          <a:p>
            <a:pPr>
              <a:defRPr sz="2000"/>
            </a:pPr>
            <a:r>
              <a:t>Nếu thiếu thư viện trên Colab: `pip install lightgbm xgboost` (phần tuning có try/except để skip khi thiếu lib).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1808</Words>
  <Application>Microsoft Office PowerPoint</Application>
  <PresentationFormat>Widescreen</PresentationFormat>
  <Paragraphs>209</Paragraphs>
  <Slides>24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Wine Quality ML Report</dc:creator>
  <cp:lastModifiedBy>Bùi Tấn Thiện Tâm</cp:lastModifiedBy>
  <cp:revision>12</cp:revision>
  <dcterms:created xsi:type="dcterms:W3CDTF">2026-01-01T16:18:35Z</dcterms:created>
  <dcterms:modified xsi:type="dcterms:W3CDTF">2026-01-13T02:43:43Z</dcterms:modified>
</cp:coreProperties>
</file>